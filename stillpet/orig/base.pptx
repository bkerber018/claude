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Manrope"/>
      <p:regular r:id="rId16"/>
      <p:bold r:id="rId17"/>
    </p:embeddedFont>
    <p:embeddedFont>
      <p:font typeface="JetBrains Mono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1/E6JKGonM/GZ09EIM2NKhY/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italic.fntdata"/><Relationship Id="rId11" Type="http://schemas.openxmlformats.org/officeDocument/2006/relationships/slide" Target="slides/slide7.xml"/><Relationship Id="rId22" Type="http://schemas.openxmlformats.org/officeDocument/2006/relationships/font" Target="fonts/SpaceGrotesk-regular.fntdata"/><Relationship Id="rId10" Type="http://schemas.openxmlformats.org/officeDocument/2006/relationships/slide" Target="slides/slide6.xml"/><Relationship Id="rId21" Type="http://schemas.openxmlformats.org/officeDocument/2006/relationships/font" Target="fonts/JetBrainsMono-boldItalic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SpaceGrotesk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anrope-bold.fntdata"/><Relationship Id="rId16" Type="http://schemas.openxmlformats.org/officeDocument/2006/relationships/font" Target="fonts/Manrope-regular.fntdata"/><Relationship Id="rId5" Type="http://schemas.openxmlformats.org/officeDocument/2006/relationships/slide" Target="slides/slide1.xml"/><Relationship Id="rId19" Type="http://schemas.openxmlformats.org/officeDocument/2006/relationships/font" Target="fonts/JetBrainsMono-bold.fntdata"/><Relationship Id="rId6" Type="http://schemas.openxmlformats.org/officeDocument/2006/relationships/slide" Target="slides/slide2.xml"/><Relationship Id="rId18" Type="http://schemas.openxmlformats.org/officeDocument/2006/relationships/font" Target="fonts/JetBrains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Gestão Estratégica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da Operação Amazon 1P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01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Gestão Estratégica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da Operação Amazon 1P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Do primeiro teste a um canal economicamente relevante.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PROPOSTA 02 — GESTÃO AMAZON 1P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POYTARA + IMPULSIO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primeiro passo já foi dado.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 OPORTUNIDADE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02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primeiro passo já foi dado.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SKUs OPERANDO EM 1P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 Amazon já compra da Poytara.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119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SKUs NO PORTFÓLIO POYTARA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próximo avanço é selecionar os produtos certos e negociar sua entrada.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Analisar o portfólio não pressupõe a compra dos 119 SKUs pela Amazon.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Ponto de partida informado pela Poytara.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Expandir com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sentido econômico.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OBJETIVO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03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Expandir com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sentido econômico.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SKU certo.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Quais produtos propor à Amazon?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Condição certa.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Demanda, margem, preço e logística.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Estratégia certa.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Como tornar o canal relevante para a Poytara?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 Impulsio atua como extensão do time da Poytara.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diagnóstico orienta a seleção dos produtos.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ESCOPO · DIAGNÓSTICO E ASSORTMENT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05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diagnóstico orienta a seleção dos produtos.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ponto de partida combina a leitura da conta atual com a análise dos 119 SKUs.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OPERAÇÃO EXISTENTE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Auditar conta, SKUs ativos, catálogo, histórico comercial, pedidos e disponibilidade.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DEMANDA E CONCORRÊNCIA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Avaliar procura, ofertas concorrentes e potencial dos produtos para a Amazon.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VIABILIDADE POR SKU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Considerar margem, preço, logística e condições comerciais para a operação 1P.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PRIORIDADES DE ENTRADA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Selecionar os SKUs e construir argumentos comerciais para propor sua entrada à Amazon.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Produto bem apresentado.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Marca bem construída.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ESCOPO · CATÁLOGO E MARCA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06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Produto bem apresentado.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Marca bem construída.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01 / CATÁLOGO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Clareza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para escolher.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Cadastro e otimização dos SKUs.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Títulos, atributos e fichas técnicas.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Imagens fornecidas pela Poytara.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Consistência das páginas.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02 / BRAND EXPERIENCE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Presença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para reconhecer.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Presença oficial e Brand Store.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Apresentação do portfólio.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Evolução dos conteúdos de produto.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 enriquecido, quando disponível.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77" name="Google Shape;7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Três movimentos.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Uma operação em evolução.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OS PRIMEIROS 90 DIAS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09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Três movimentos.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Uma operação em evolução.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0–30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DIAS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Diagnosticar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Auditoria da operação.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Análise dos 119 SKUs.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Produtos prioritários.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Diagnóstico de conteúdo e marca.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KPIs e baseline.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31–60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DIAS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Estruturar e propor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Proposição de novos SKUs.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Otimização dos SKUs atuais.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Brand Store e conteúdos.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Agenda comercial com a Amazon.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61–90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DIAS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Acelerar e revisar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SKUs com maior potencial.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Mídia e performance.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Estoque e pedidos.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Revisão de rentabilidade.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Roadmap de expansão.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Baseline: referência inicial dos indicadores. Novos SKUs dependem da negociação e do aceite da Amazon.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92" name="Google Shape;9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canal precisa gerar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resultado para a Poytara.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INDICADORES · NEGÓCIO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10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canal precisa gerar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resultado para a Poytara.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 DINÂMICA DAS VENDAS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Sell-in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Poytara → Amazon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Sell-out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Amazon → consumidor final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Acompanhar quando disponível.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Rentabilidade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Resultado econômico por produto e da operação.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SKUs ativos e prioritários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Quantidade ativa e performance dos principais produtos.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Ampliação do assortment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SKUs propostos, aceitos e efetivamente comprados.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111" name="Google Shape;11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Três lentes para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decidir melhor por SKU.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INDICADORES · OPERAÇÃO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11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Três lentes para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decidir melhor por SKU.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Abastecer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Pedidos de compra.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Disponibilidade e ruptura.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Cobertura de estoque.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Competir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Comportamento de preço.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Posição frente às ofertas.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Competitividade do produto.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Otimizar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Investimento em Retail Media.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Performance e retorno.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Leitura integrada por SKU.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Os indicadores se conectam para orientar as decisões da operação.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Detalhamento conforme os dados disponíveis no canal.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132" name="Google Shape;13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Setup e gestão estratégica da Amazon 1P.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INVESTIMENTO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13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Setup e gestão estratégica da Amazon 1P.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SETUP E DIAGNÓSTICO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R$ 3.500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Pagamento único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Auditoria, estudo do portfólio, assortment, arquitetura da operação e plano inicial de expansão.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GESTÃO AMAZON 1P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R$ 2.700/mês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Gestão operacional e estratégica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Catálogo, assortment, acompanhamento comercial, performance, conteúdo e principais indicadores.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Ciclo inicial recomendado: 90 dias.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Mídia e investimentos realizados diretamente nos canais não estão incluídos no fee de gestão.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Construir a base, acompanhar o negócio e orientar a expansão.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152" name="Google Shape;15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Consolidar primeiro.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Expandir com inteligência.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PRÓXIMA FRONTEIRA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14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Consolidar primeiro.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Expandir com inteligência.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AGORA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Amazon 1P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Consolidar a operação e sua viabilidade econômica.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MAIS ADIANTE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Estratégia internacional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Após consolidar a Amazon, usar a inteligência do canal para preparar a expansão internacional da Poytara.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172" name="Google Shape;17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Transformar o primeiro teste em uma operação.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 PRÓXIMO PASSO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15 / 15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Transformar o primeiro teste em uma operação.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Uma agenda que combina seleção de produtos, execução e rentabilidade.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Alinhar objetivos, prioridades e interlocutores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Reunir dados da operação e do portfólio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Disponibilizar os acessos e materiais necessários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04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Iniciar o diagnóstico e a seleção dos SKUs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SELECIONAR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Os produtos com potencial.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ESTRUTURAR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Uma rotina de gestão do canal.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EVOLUIR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Com dados e rentabilidade.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Uma operação Amazon 1P economicamente relevante para a Poytara.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Bruno Kerber  •  bruno@impulsio.com.br  •  (12) 98258-3330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Conteúdo, diagnóstico inicial e condições comerciais: briefing Proposta 02 — Gestão Amazon 1P, fornecido pelo usuário. Os números 119 SKUs no portfólio e 3 SKUs em 1P são informações do briefing, não uma auditoria independente.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Identidade visual: referência Impulsio fornecida pelo usuário em Deck de apresentação da fábrica.pdf; reaproveitados somente elementos visuais, sem fatos ou condições de outras propostas.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Fontes tipográficas: Google Fonts, Space Grotesk, Manrope e JetBrains Mono (https://fonts.google.com/).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Benefícios são objetivos do projeto. Elegibilidade e expansão serão avaliadas, sem pressupor entrada dos 119 SKUs. Revisão executiva periódica, sem frequência adicional acordada neste briefing.</a:t>
            </a:r>
            <a:endParaRPr/>
          </a:p>
        </p:txBody>
      </p:sp>
      <p:sp>
        <p:nvSpPr>
          <p:cNvPr id="187" name="Google Shape;18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0572750" y="7715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62000" y="1571625"/>
            <a:ext cx="10668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950"/>
              <a:buFont typeface="Space Grotesk"/>
              <a:buNone/>
            </a:pPr>
            <a:r>
              <a:rPr b="1" lang="en-US" sz="49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Organizar o catálogo</a:t>
            </a:r>
            <a:endParaRPr b="1" sz="4950">
              <a:solidFill>
                <a:srgbClr val="F1F2F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950"/>
              <a:buFont typeface="Space Grotesk"/>
              <a:buNone/>
            </a:pPr>
            <a:r>
              <a:rPr b="1" lang="en-US" sz="49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StillPet </a:t>
            </a:r>
            <a:r>
              <a:rPr b="1" i="0" lang="en-US" sz="49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Operação Amazon 1P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62000" y="3619500"/>
            <a:ext cx="10572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75"/>
              <a:buFont typeface="Manrope"/>
              <a:buNone/>
            </a:pPr>
            <a:r>
              <a:rPr lang="en-US" sz="2175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Seis meses para colocar no padrão tudo que já está no ar, e abrir espaço para o que vem depois.</a:t>
            </a:r>
            <a:endParaRPr sz="2175">
              <a:solidFill>
                <a:srgbClr val="F1F2F8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75"/>
              <a:buFont typeface="Manrope"/>
              <a:buNone/>
            </a:pPr>
            <a:r>
              <a:t/>
            </a:r>
            <a:endParaRPr sz="2175">
              <a:solidFill>
                <a:srgbClr val="F1F2F8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75"/>
              <a:buFont typeface="Manrope"/>
              <a:buNone/>
            </a:pPr>
            <a:r>
              <a:t/>
            </a:r>
            <a:endParaRPr sz="2175">
              <a:solidFill>
                <a:srgbClr val="F1F2F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238250" y="55245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PROPOSTA — GESTÃO AMAZON 1P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238250" y="5838825"/>
            <a:ext cx="857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850"/>
              <a:buFont typeface="Space Grotesk"/>
              <a:buNone/>
            </a:pPr>
            <a:r>
              <a:rPr b="1" lang="en-US" sz="28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Still Pet</a:t>
            </a:r>
            <a:endParaRPr b="1" sz="2850">
              <a:solidFill>
                <a:srgbClr val="F1F2F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OPORTUNIDADE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62000" y="1076325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primeiro passo já foi dado.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38175" y="1771650"/>
            <a:ext cx="4143375" cy="25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9875"/>
              <a:buFont typeface="Space Grotesk"/>
              <a:buNone/>
            </a:pPr>
            <a:r>
              <a:rPr b="1" lang="en-US" sz="19875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62000" y="4476750"/>
            <a:ext cx="419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SKUs OPERANDO EM 1P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62000" y="4905375"/>
            <a:ext cx="4095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A Amazon já compra da </a:t>
            </a:r>
            <a:r>
              <a:rPr lang="en-US" sz="2025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Still Pet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143625" y="1990725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8100"/>
              <a:buFont typeface="Space Grotesk"/>
              <a:buNone/>
            </a:pPr>
            <a:r>
              <a:rPr b="1" lang="en-US" sz="810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191250" y="3219450"/>
            <a:ext cx="523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SKUs N</a:t>
            </a:r>
            <a:r>
              <a:rPr lang="en-US" sz="1350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OVOS AO LONGO DO CONTRATO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62000" y="6286500"/>
            <a:ext cx="1047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350"/>
              <a:buFont typeface="Manrope"/>
              <a:buNone/>
            </a:pPr>
            <a:r>
              <a:rPr b="0" i="0" lang="en-US" sz="13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Ponto de partida informado pela </a:t>
            </a:r>
            <a:r>
              <a:rPr lang="en-US" sz="1350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Still Pet</a:t>
            </a:r>
            <a:endParaRPr sz="1350">
              <a:solidFill>
                <a:srgbClr val="D2D8E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62000" y="1114425"/>
            <a:ext cx="106680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275"/>
              <a:buFont typeface="Space Grotesk"/>
              <a:buNone/>
            </a:pPr>
            <a:r>
              <a:rPr b="1" i="0" lang="en-US" sz="427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Expandir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275"/>
              <a:buFont typeface="Space Grotesk"/>
              <a:buNone/>
            </a:pPr>
            <a:r>
              <a:rPr b="1" i="0" lang="en-US" sz="427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sentido econômico.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62000" y="290512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485900" y="2847975"/>
            <a:ext cx="5715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225"/>
              <a:buFont typeface="Space Grotesk"/>
              <a:buNone/>
            </a:pPr>
            <a:r>
              <a:rPr b="1" i="0" lang="en-US" sz="32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SKU certo.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572375" y="2886075"/>
            <a:ext cx="3857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Quais produtos propor à Amazon?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62000" y="377190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485900" y="3714750"/>
            <a:ext cx="5715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225"/>
              <a:buFont typeface="Space Grotesk"/>
              <a:buNone/>
            </a:pPr>
            <a:r>
              <a:rPr b="1" i="0" lang="en-US" sz="32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Condição certa.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572375" y="3752850"/>
            <a:ext cx="3857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Demanda, margem, preço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logística.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62000" y="46386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485900" y="4581525"/>
            <a:ext cx="5715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225"/>
              <a:buFont typeface="Space Grotesk"/>
              <a:buNone/>
            </a:pPr>
            <a:r>
              <a:rPr b="1" i="0" lang="en-US" sz="32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Estratégia certa.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572375" y="4619625"/>
            <a:ext cx="3857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Como tornar o canal relevante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 </a:t>
            </a:r>
            <a:r>
              <a:rPr lang="en-US" sz="1875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Still Pet</a:t>
            </a:r>
            <a:r>
              <a:rPr b="0" i="0" lang="en-US" sz="187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238250" y="6048375"/>
            <a:ext cx="10001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A Impulsio atua como extensão do time da </a:t>
            </a:r>
            <a:r>
              <a:rPr lang="en-US" sz="1875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Still Pet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ESCOPO · DIAGNÓSTICO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62000" y="1000125"/>
            <a:ext cx="10668000" cy="39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100"/>
              <a:buFont typeface="Space Grotesk"/>
              <a:buNone/>
            </a:pPr>
            <a:r>
              <a:rPr b="1" i="0" lang="en-US" sz="31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diagnóstico orienta a seleção dos produtos.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62000" y="1657350"/>
            <a:ext cx="1028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O ponto de partida combina a leitura da conta atual com a análise dos 119 SKUs.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62000" y="2381250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OPERAÇÃO EXISTENTE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62000" y="2705100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Auditar conta, SKUs ativos, catálogo, histórico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comercial, pedidos e disponibilidade.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391275" y="2381250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DEMANDA E CONCORRÊNCIA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391275" y="2705100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Avaliar procura, ofertas concorrentes e potencial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dos produtos para a Amazon.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62000" y="3857625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VIABILIDADE POR SKU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62000" y="4181475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Considerar margem, preço, logística e condições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comerciais para a operação 1P.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391275" y="3857625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PRIORIDADES DE ENTRADA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391275" y="4181475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Selecionar os SKUs e construir argumentos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comerciais para propor sua entrada à Amazon.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ESCOPO · CATÁLOGO E MARCA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762000" y="1057275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Produto bem apresentado.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Marca bem construída.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762000" y="2657475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CATÁLOGO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62000" y="30956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Clareza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escolher.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762000" y="43910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Cadastro e otimização dos SKUs.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Títulos, atributos e fichas técnicas.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Imagens fornecidas pela </a:t>
            </a:r>
            <a:r>
              <a:rPr lang="en-US" sz="1875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Still Pet</a:t>
            </a: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Consistência das páginas.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572250" y="2657475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BRAND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572250" y="30956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Presença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3600"/>
              <a:buFont typeface="Space Grotesk"/>
              <a:buNone/>
            </a:pPr>
            <a:r>
              <a:rPr b="1" i="0" lang="en-US" sz="3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reconhecer.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572250" y="43910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Presença oficial e Brand Store.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Apresentação do portfólio.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Evolução dos conteúdos de produto.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Conteúdo enriquecido, quando disponível.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 PRIMEIROS 90 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762000" y="1057275"/>
            <a:ext cx="106680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75"/>
              <a:buFont typeface="Space Grotesk"/>
              <a:buNone/>
            </a:pPr>
            <a:r>
              <a:rPr b="1" i="0" lang="en-US" sz="367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Três movimentos.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675"/>
              <a:buFont typeface="Space Grotesk"/>
              <a:buNone/>
            </a:pPr>
            <a:r>
              <a:rPr b="1" i="0" lang="en-US" sz="367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Uma operação em evolução.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762000" y="2571750"/>
            <a:ext cx="32956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5025"/>
              <a:buFont typeface="Space Grotesk"/>
              <a:buNone/>
            </a:pPr>
            <a:r>
              <a:rPr b="1" lang="en-US" sz="5025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762000" y="3810000"/>
            <a:ext cx="3295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025"/>
              <a:buFont typeface="Space Grotesk"/>
              <a:buNone/>
            </a:pPr>
            <a:r>
              <a:rPr b="1" i="0" lang="en-US" sz="20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Diagnosticar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762000" y="4295775"/>
            <a:ext cx="333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Auditoria da operação.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Análise dos 1</a:t>
            </a:r>
            <a:r>
              <a:rPr lang="en-US" sz="1650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51 </a:t>
            </a: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 SKUs.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Produtos prioritários.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Diagnóstico de conteúdo e marca.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448175" y="2571750"/>
            <a:ext cx="32956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5025"/>
              <a:buFont typeface="Space Grotesk"/>
              <a:buNone/>
            </a:pPr>
            <a:r>
              <a:rPr b="1" lang="en-US" sz="5025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4448175" y="3810000"/>
            <a:ext cx="3295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025"/>
              <a:buFont typeface="Space Grotesk"/>
              <a:buNone/>
            </a:pPr>
            <a:r>
              <a:rPr b="1" i="0" lang="en-US" sz="20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Estruturar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4448175" y="4295775"/>
            <a:ext cx="333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Otimização dos SKUs atuais.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Brand Store e conteúdos</a:t>
            </a:r>
            <a:r>
              <a:rPr lang="en-US" sz="1650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134350" y="2571750"/>
            <a:ext cx="32956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5025"/>
              <a:buFont typeface="Space Grotesk"/>
              <a:buNone/>
            </a:pPr>
            <a:r>
              <a:rPr b="1" lang="en-US" sz="5025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8134350" y="3810000"/>
            <a:ext cx="3295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025"/>
              <a:buFont typeface="Space Grotesk"/>
              <a:buNone/>
            </a:pPr>
            <a:r>
              <a:rPr b="1" i="0" lang="en-US" sz="20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Acelerar e revisar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8134350" y="4295775"/>
            <a:ext cx="333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SKUs com maior potencial.</a:t>
            </a:r>
            <a:endParaRPr b="0" i="0" sz="1650" u="none" cap="none" strike="noStrike">
              <a:solidFill>
                <a:srgbClr val="D2D8E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lang="en-US" sz="1650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Proposição de novos SKUs.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Roadmap de expansão.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762000" y="6353175"/>
            <a:ext cx="1066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350"/>
              <a:buFont typeface="Manrope"/>
              <a:buNone/>
            </a:pPr>
            <a:r>
              <a:rPr b="0" i="0" lang="en-US" sz="13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Novos SKUs dependem da negociação e do aceite da Amazon.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0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INDICADORES · NEGÓCIO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762000" y="1057275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canal precisa gerar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 para a Poytara.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762000" y="2628900"/>
            <a:ext cx="561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DINÂMICA DAS VENDAS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762000" y="2990850"/>
            <a:ext cx="5619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5625"/>
              <a:buFont typeface="Space Grotesk"/>
              <a:buNone/>
            </a:pPr>
            <a:r>
              <a:rPr b="1" i="0" lang="en-US" sz="56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Sell-in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762000" y="3819525"/>
            <a:ext cx="561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2025"/>
              <a:buFont typeface="Manrope"/>
              <a:buNone/>
            </a:pPr>
            <a:r>
              <a:rPr lang="en-US" sz="2025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Still Pet</a:t>
            </a:r>
            <a:r>
              <a:rPr b="0" i="0" lang="en-US" sz="202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 → Amazon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762000" y="4448175"/>
            <a:ext cx="5619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5625"/>
              <a:buFont typeface="Space Grotesk"/>
              <a:buNone/>
            </a:pPr>
            <a:r>
              <a:rPr b="1" i="0" lang="en-US" sz="5625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Sell-out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762000" y="5238750"/>
            <a:ext cx="561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Amazon → consumidor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762000" y="5667375"/>
            <a:ext cx="5619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500"/>
              <a:buFont typeface="Manrope"/>
              <a:buNone/>
            </a:pPr>
            <a:r>
              <a:rPr b="0" i="0" lang="en-US" sz="15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Acompanhar quando disponível.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7191375" y="2667000"/>
            <a:ext cx="4238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325"/>
              <a:buFont typeface="Space Grotesk"/>
              <a:buNone/>
            </a:pPr>
            <a:r>
              <a:rPr b="1" i="0" lang="en-US" sz="23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Rentabilidade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7191375" y="3076575"/>
            <a:ext cx="423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Resultado econômico por produto e 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operação.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7191375" y="3933825"/>
            <a:ext cx="4238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325"/>
              <a:buFont typeface="Space Grotesk"/>
              <a:buNone/>
            </a:pPr>
            <a:r>
              <a:rPr b="1" i="0" lang="en-US" sz="23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SKUs ativos e prioritários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7191375" y="4343400"/>
            <a:ext cx="423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Quantidade ativa e performance 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principais produtos.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7191375" y="5200650"/>
            <a:ext cx="4238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325"/>
              <a:buFont typeface="Space Grotesk"/>
              <a:buNone/>
            </a:pPr>
            <a:r>
              <a:rPr b="1" i="0" lang="en-US" sz="23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Ampliação do assortment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7191375" y="5610225"/>
            <a:ext cx="423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SKUs propostos, aceitos e efetivamente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comprados.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1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INDICADORES · OPERAÇÃO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762000" y="1057275"/>
            <a:ext cx="106680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825"/>
              <a:buFont typeface="Space Grotesk"/>
              <a:buNone/>
            </a:pPr>
            <a:r>
              <a:rPr b="1" i="0" lang="en-US" sz="38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Três lentes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825"/>
              <a:buFont typeface="Space Grotesk"/>
              <a:buNone/>
            </a:pPr>
            <a:r>
              <a:rPr b="1" i="0" lang="en-US" sz="38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decidir melhor por SKU.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762000" y="2590800"/>
            <a:ext cx="32956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6600"/>
              <a:buFont typeface="Space Grotesk"/>
              <a:buNone/>
            </a:pPr>
            <a:r>
              <a:rPr b="1" i="0" lang="en-US" sz="6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762000" y="365760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625"/>
              <a:buFont typeface="Space Grotesk"/>
              <a:buNone/>
            </a:pPr>
            <a:r>
              <a:rPr b="1" i="0" lang="en-US" sz="26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Abastecer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762000" y="4286250"/>
            <a:ext cx="3295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Pedidos de compra.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Disponibilidade e ruptura.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Cobertura de estoque.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448175" y="2590800"/>
            <a:ext cx="32956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6600"/>
              <a:buFont typeface="Space Grotesk"/>
              <a:buNone/>
            </a:pPr>
            <a:r>
              <a:rPr b="1" i="0" lang="en-US" sz="6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448175" y="365760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625"/>
              <a:buFont typeface="Space Grotesk"/>
              <a:buNone/>
            </a:pPr>
            <a:r>
              <a:rPr b="1" i="0" lang="en-US" sz="26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Competir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448175" y="4286250"/>
            <a:ext cx="3295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Comportamento de preço.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Posição frente às ofertas.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Competitividade do produto.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8134350" y="2590800"/>
            <a:ext cx="32956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6600"/>
              <a:buFont typeface="Space Grotesk"/>
              <a:buNone/>
            </a:pPr>
            <a:r>
              <a:rPr b="1" i="0" lang="en-US" sz="660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8134350" y="365760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625"/>
              <a:buFont typeface="Space Grotesk"/>
              <a:buNone/>
            </a:pPr>
            <a:r>
              <a:rPr b="1" i="0" lang="en-US" sz="26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Otimizar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8134350" y="4286250"/>
            <a:ext cx="3295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Investimento em Retail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Performance e retorno.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Leitura integrada por SKU.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762000" y="5876925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75"/>
              <a:buFont typeface="Manrope"/>
              <a:buNone/>
            </a:pPr>
            <a:r>
              <a:rPr b="0" i="0" lang="en-US" sz="2175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Os indicadores se conectam para orientar as decisões da operação.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762000" y="6362700"/>
            <a:ext cx="1066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350"/>
              <a:buFont typeface="Manrope"/>
              <a:buNone/>
            </a:pPr>
            <a:r>
              <a:rPr b="0" i="0" lang="en-US" sz="13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Detalhamento conforme os dados disponíveis no canal.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762000" y="1000125"/>
            <a:ext cx="10668000" cy="39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100"/>
              <a:buFont typeface="Space Grotesk"/>
              <a:buNone/>
            </a:pPr>
            <a:r>
              <a:rPr b="1" i="0" lang="en-US" sz="31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Setup e gestão estratégica da Amazon 1P.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1076325" y="207645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SETUP E DIAGNÓSTICO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76325" y="2333625"/>
            <a:ext cx="4543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450"/>
              <a:buFont typeface="Space Grotesk"/>
              <a:buNone/>
            </a:pPr>
            <a:r>
              <a:rPr b="1" i="0" lang="en-US" sz="34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R$ </a:t>
            </a:r>
            <a:r>
              <a:rPr b="1" lang="en-US" sz="34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r>
              <a:rPr b="1" i="0" lang="en-US" sz="34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.500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076325" y="2857500"/>
            <a:ext cx="45434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725"/>
              <a:buFont typeface="Manrope"/>
              <a:buNone/>
            </a:pPr>
            <a:r>
              <a:rPr b="0" i="0" lang="en-US" sz="1725" u="none" cap="none" strike="noStrike">
                <a:solidFill>
                  <a:srgbClr val="B5CBF5"/>
                </a:solidFill>
                <a:latin typeface="Manrope"/>
                <a:ea typeface="Manrope"/>
                <a:cs typeface="Manrope"/>
                <a:sym typeface="Manrope"/>
              </a:rPr>
              <a:t>Pagamento único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1076325" y="3190875"/>
            <a:ext cx="45434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Auditoria, estudo do portfólio, arquitetura da operação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6543675" y="2076450"/>
            <a:ext cx="4562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GESTÃO AMAZON 1P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6543675" y="2333625"/>
            <a:ext cx="45624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450"/>
              <a:buFont typeface="Space Grotesk"/>
              <a:buNone/>
            </a:pPr>
            <a:r>
              <a:rPr b="1" i="0" lang="en-US" sz="34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R$ 2.</a:t>
            </a:r>
            <a:r>
              <a:rPr b="1" lang="en-US" sz="3450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r>
              <a:rPr b="1" i="0" lang="en-US" sz="34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00/mês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6543675" y="2857500"/>
            <a:ext cx="4562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725"/>
              <a:buFont typeface="Manrope"/>
              <a:buNone/>
            </a:pPr>
            <a:r>
              <a:rPr b="0" i="0" lang="en-US" sz="1725" u="none" cap="none" strike="noStrike">
                <a:solidFill>
                  <a:srgbClr val="B5CBF5"/>
                </a:solidFill>
                <a:latin typeface="Manrope"/>
                <a:ea typeface="Manrope"/>
                <a:cs typeface="Manrope"/>
                <a:sym typeface="Manrope"/>
              </a:rPr>
              <a:t>Gestão operacional e estratégica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6543675" y="3190875"/>
            <a:ext cx="4562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Catálogo,  performance, conteúdo e principais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indicadores.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762000" y="474345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Ciclo inicial recomendado: 90 dias.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762000" y="5219700"/>
            <a:ext cx="1066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Mídia e investimentos realizados diretamente nos canais não estão incluídos no fee de gestão.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1238250" y="6076950"/>
            <a:ext cx="10001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Construir a base, acompanhar o negócio e orientar a expansão.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PRÓXIMA FRONTEIRA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762000" y="1066800"/>
            <a:ext cx="106680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825"/>
              <a:buFont typeface="Space Grotesk"/>
              <a:buNone/>
            </a:pPr>
            <a:r>
              <a:rPr b="1" i="0" lang="en-US" sz="38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Consolidar primeiro.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825"/>
              <a:buFont typeface="Space Grotesk"/>
              <a:buNone/>
            </a:pPr>
            <a:r>
              <a:rPr b="1" i="0" lang="en-US" sz="3825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Expandir com inteligência.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762000" y="2867025"/>
            <a:ext cx="195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3143250" y="2686050"/>
            <a:ext cx="828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4950"/>
              <a:buFont typeface="Space Grotesk"/>
              <a:buNone/>
            </a:pPr>
            <a:r>
              <a:rPr b="1" i="0" lang="en-US" sz="495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Amazon 1P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3181350" y="3476625"/>
            <a:ext cx="8248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Consolidar a operação e sua viabilidade econômica.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762000" y="4714875"/>
            <a:ext cx="219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MAIS ADIANTE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3143250" y="4505325"/>
            <a:ext cx="8286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3750"/>
              <a:buFont typeface="Space Grotesk"/>
              <a:buNone/>
            </a:pPr>
            <a:r>
              <a:rPr b="1" i="0" lang="en-US" sz="3750" u="none" cap="none" strike="noStrike">
                <a:solidFill>
                  <a:srgbClr val="69A7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Estratégia internacional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3181350" y="5219700"/>
            <a:ext cx="8248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Após consolidar a Amazon, usar a inteligência do canal para preparar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expansão internacional da Poytara.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5"/>
          <p:cNvSpPr/>
          <p:nvPr/>
        </p:nvSpPr>
        <p:spPr>
          <a:xfrm>
            <a:off x="762000" y="542925"/>
            <a:ext cx="895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PRÓXIMO PASSO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10572750" y="542925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CCDB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C3CCD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762000" y="1000125"/>
            <a:ext cx="10668000" cy="39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3100"/>
              <a:buFont typeface="Space Grotesk"/>
              <a:buNone/>
            </a:pPr>
            <a:r>
              <a:rPr b="1" i="0" lang="en-US" sz="3100" u="none" cap="none" strike="noStrike">
                <a:solidFill>
                  <a:srgbClr val="F1F2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Transformar o primeiro teste em uma operação.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762000" y="1522050"/>
            <a:ext cx="10287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8E3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D2D8E3"/>
                </a:solidFill>
                <a:latin typeface="Manrope"/>
                <a:ea typeface="Manrope"/>
                <a:cs typeface="Manrope"/>
                <a:sym typeface="Manrope"/>
              </a:rPr>
              <a:t>Uma agenda que combina seleção de produtos, execução e rentabilidade.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762000" y="219075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1514475" y="2190750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Alinhar objetivos, prioridades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interlocutores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762000" y="293370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1514475" y="293370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Reunir dados da operação e do portfólio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6448425" y="219075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7200900" y="2190750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Disponibilizar os acessos e materiais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necessários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6448425" y="293370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A7FF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69A7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7200900" y="2933700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Iniciar o diagnóstico e a seleção 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SKUs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762000" y="4171950"/>
            <a:ext cx="3238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SELECIONAR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762000" y="4457700"/>
            <a:ext cx="3190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Os produtos com potencial.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4476750" y="4171950"/>
            <a:ext cx="3190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ESTRUTURAR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4476750" y="4457700"/>
            <a:ext cx="3190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Uma rotina de gestão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canal.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8162925" y="4171950"/>
            <a:ext cx="32670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CBF5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B5C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EVOLUIR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8162925" y="4457700"/>
            <a:ext cx="3267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Com dados e rentabilidade.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1238250" y="5229225"/>
            <a:ext cx="10001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2F8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F1F2F8"/>
                </a:solidFill>
                <a:latin typeface="Manrope"/>
                <a:ea typeface="Manrope"/>
                <a:cs typeface="Manrope"/>
                <a:sym typeface="Manrope"/>
              </a:rPr>
              <a:t>Uma operação Amazon 1P economicamente relevante para a Poytara.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