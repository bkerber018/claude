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Manrope"/>
      <p:regular r:id="rId16"/>
      <p:bold r:id="rId17"/>
    </p:embeddedFont>
    <p:embeddedFont>
      <p:font typeface="JetBrains Mono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1/E6JKGonM/GZ09EIM2NKhY/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italic.fntdata"/><Relationship Id="rId11" Type="http://schemas.openxmlformats.org/officeDocument/2006/relationships/slide" Target="slides/slide7.xml"/><Relationship Id="rId22" Type="http://schemas.openxmlformats.org/officeDocument/2006/relationships/font" Target="fonts/SpaceGrotesk-regular.fntdata"/><Relationship Id="rId10" Type="http://schemas.openxmlformats.org/officeDocument/2006/relationships/slide" Target="slides/slide6.xml"/><Relationship Id="rId21" Type="http://schemas.openxmlformats.org/officeDocument/2006/relationships/font" Target="fonts/JetBrainsMono-boldItalic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SpaceGrotesk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anrope-bold.fntdata"/><Relationship Id="rId16" Type="http://schemas.openxmlformats.org/officeDocument/2006/relationships/font" Target="fonts/Manrope-regular.fntdata"/><Relationship Id="rId5" Type="http://schemas.openxmlformats.org/officeDocument/2006/relationships/slide" Target="slides/slide1.xml"/><Relationship Id="rId19" Type="http://schemas.openxmlformats.org/officeDocument/2006/relationships/font" Target="fonts/JetBrainsMono-bold.fntdata"/><Relationship Id="rId6" Type="http://schemas.openxmlformats.org/officeDocument/2006/relationships/slide" Target="slides/slide2.xml"/><Relationship Id="rId18" Type="http://schemas.openxmlformats.org/officeDocument/2006/relationships/font" Target="fonts/JetBrains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[Fontes] Evidências coletadas em amazon.com.br entre 22 e 23/09/2026 (prints de tela arquivados). Catálogo de 151 anúncios sob a marca Tudo Pet, verificado por busca de marca na Amazon Brasil. Escopo, prazos e valores conforme alinhado em reunião com a Still Pet. Nenhum número neste documento é estimativa: cada dado tem print datado. [/Fontes]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[Fontes] Evidências coletadas em amazon.com.br entre 22 e 23/09/2026 (prints de tela arquivados). Catálogo de 151 anúncios sob a marca Tudo Pet, verificado por busca de marca na Amazon Brasil. Escopo, prazos e valores conforme alinhado em reunião com a Still Pet. Nenhum número neste documento é estimativa: cada dado tem print datado. [/Fontes]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[Fontes] Evidências coletadas em amazon.com.br entre 22 e 23/09/2026 (prints de tela arquivados). Catálogo de 151 anúncios sob a marca Tudo Pet, verificado por busca de marca na Amazon Brasil. Escopo, prazos e valores conforme alinhado em reunião com a Still Pet. Nenhum número neste documento é estimativa: cada dado tem print datado. [/Fontes]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[Fontes] Evidências coletadas em amazon.com.br entre 22 e 23/09/2026 (prints de tela arquivados). Catálogo de 151 anúncios sob a marca Tudo Pet, verificado por busca de marca na Amazon Brasil. Escopo, prazos e valores conforme alinhado em reunião com a Still Pet. Nenhum número neste documento é estimativa: cada dado tem print datado. [/Fontes]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[Fontes] Evidências coletadas em amazon.com.br entre 22 e 23/09/2026 (prints de tela arquivados). Catálogo de 151 anúncios sob a marca Tudo Pet, verificado por busca de marca na Amazon Brasil. Escopo, prazos e valores conforme alinhado em reunião com a Still Pet. Nenhum número neste documento é estimativa: cada dado tem print datado. [/Fontes]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</p:txBody>
      </p:sp>
      <p:sp>
        <p:nvSpPr>
          <p:cNvPr id="77" name="Google Shape;7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[Fontes] Evidências coletadas em amazon.com.br entre 22 e 23/09/2026 (prints de tela arquivados). Catálogo de 151 anúncios sob a marca Tudo Pet, verificado por busca de marca na Amazon Brasil. Escopo, prazos e valores conforme alinhado em reunião com a Still Pet. Nenhum número neste documento é estimativa: cada dado tem print datado. [/Fontes]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</p:txBody>
      </p:sp>
      <p:sp>
        <p:nvSpPr>
          <p:cNvPr id="92" name="Google Shape;9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[Fontes] Evidências coletadas em amazon.com.br entre 22 e 23/09/2026 (prints de tela arquivados). Catálogo de 151 anúncios sob a marca Tudo Pet, verificado por busca de marca na Amazon Brasil. Escopo, prazos e valores conforme alinhado em reunião com a Still Pet. Nenhum número neste documento é estimativa: cada dado tem print datado. [/Fontes]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</p:txBody>
      </p:sp>
      <p:sp>
        <p:nvSpPr>
          <p:cNvPr id="111" name="Google Shape;11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[Fontes] Evidências coletadas em amazon.com.br entre 22 e 23/09/2026 (prints de tela arquivados). Catálogo de 151 anúncios sob a marca Tudo Pet, verificado por busca de marca na Amazon Brasil. Escopo, prazos e valores conforme alinhado em reunião com a Still Pet. Nenhum número neste documento é estimativa: cada dado tem print datado. [/Fontes]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</p:txBody>
      </p:sp>
      <p:sp>
        <p:nvSpPr>
          <p:cNvPr id="132" name="Google Shape;13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[Fontes] Evidências coletadas em amazon.com.br entre 22 e 23/09/2026 (prints de tela arquivados). Catálogo de 151 anúncios sob a marca Tudo Pet, verificado por busca de marca na Amazon Brasil. Escopo, prazos e valores conforme alinhado em reunião com a Still Pet. Nenhum número neste documento é estimativa: cada dado tem print datado. [/Fontes]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</p:txBody>
      </p:sp>
      <p:sp>
        <p:nvSpPr>
          <p:cNvPr id="152" name="Google Shape;15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[Fontes] Evidências coletadas em amazon.com.br entre 22 e 23/09/2026 (prints de tela arquivados). Catálogo de 151 anúncios sob a marca Tudo Pet, verificado por busca de marca na Amazon Brasil. Escopo, prazos e valores conforme alinhado em reunião com a Still Pet. Nenhum número neste documento é estimativa: cada dado tem print datado. [/Fontes]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</p:txBody>
      </p:sp>
      <p:sp>
        <p:nvSpPr>
          <p:cNvPr id="172" name="Google Shape;17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[Fontes] Evidências coletadas em amazon.com.br entre 22 e 23/09/2026 (prints de tela arquivados). Catálogo de 151 anúncios sob a marca Tudo Pet, verificado por busca de marca na Amazon Brasil. Escopo, prazos e valores conforme alinhado em reunião com a Still Pet. Nenhum número neste documento é estimativa: cada dado tem print datado. [/Fontes]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/>
            </a:r>
            <a:endParaRPr/>
          </a:p>
        </p:txBody>
      </p:sp>
      <p:sp>
        <p:nvSpPr>
          <p:cNvPr id="187" name="Google Shape;18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0572750" y="7715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62000" y="1571625"/>
            <a:ext cx="10668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4950"/>
              <a:buFont typeface="Space Grotesk"/>
              <a:buNone/>
            </a:pPr>
            <a:r>
              <a:rPr b="1" lang="en-US" sz="495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Organizar o catálogo</a:t>
            </a:r>
            <a:endParaRPr b="1" sz="4950">
              <a:solidFill>
                <a:srgbClr val="F1F2F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4950"/>
              <a:buFont typeface="Space Grotesk"/>
              <a:buNone/>
            </a:pPr>
            <a:r>
              <a:rPr b="1" lang="en-US" sz="495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StillPet </a:t>
            </a:r>
            <a:r>
              <a:rPr b="1" i="0" lang="en-US" sz="49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Operação Amazon 1P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62000" y="3619500"/>
            <a:ext cx="10572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175"/>
              <a:buFont typeface="Manrope"/>
              <a:buNone/>
            </a:pPr>
            <a:r>
              <a:rPr lang="en-US" sz="2175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Seis meses para colocar no padrão tudo que já está no ar, e abrir espaço para o que vem depois.</a:t>
            </a:r>
            <a:endParaRPr sz="2175">
              <a:solidFill>
                <a:srgbClr val="F1F2F8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175"/>
              <a:buFont typeface="Manrope"/>
              <a:buNone/>
            </a:pPr>
            <a:r>
              <a:t/>
            </a:r>
            <a:endParaRPr sz="2175">
              <a:solidFill>
                <a:srgbClr val="F1F2F8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175"/>
              <a:buFont typeface="Manrope"/>
              <a:buNone/>
            </a:pPr>
            <a:r>
              <a:t/>
            </a:r>
            <a:endParaRPr sz="2175">
              <a:solidFill>
                <a:srgbClr val="F1F2F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238250" y="55245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PROPOSTA — GESTÃO AMAZON 1P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238250" y="5838825"/>
            <a:ext cx="857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850"/>
              <a:buFont typeface="Space Grotesk"/>
              <a:buNone/>
            </a:pPr>
            <a:r>
              <a:rPr b="1" lang="en-US" sz="285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Still Pet</a:t>
            </a:r>
            <a:endParaRPr b="1" sz="2850">
              <a:solidFill>
                <a:srgbClr val="F1F2F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OPORTUNIDADE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62000" y="1076325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600"/>
              <a:buFont typeface="Space Grotesk"/>
              <a:buNone/>
            </a:pPr>
            <a:r>
              <a:rPr b="1" i="0" lang="en-US" sz="36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primeiro passo já foi dado.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38175" y="1771650"/>
            <a:ext cx="4143375" cy="25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9875"/>
              <a:buFont typeface="Space Grotesk"/>
              <a:buNone/>
            </a:pPr>
            <a:r>
              <a:rPr b="1" lang="en-US" sz="19875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62000" y="4476750"/>
            <a:ext cx="419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ANÚNCIOS NO AR NA AMAZON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62000" y="4905375"/>
            <a:ext cx="4095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A Amazon já compra da </a:t>
            </a:r>
            <a:r>
              <a:rPr lang="en-US" sz="2025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Still Pet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143625" y="1990725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8100"/>
              <a:buFont typeface="Space Grotesk"/>
              <a:buNone/>
            </a:pPr>
            <a:r>
              <a:rPr b="1" lang="en-US" sz="810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191250" y="3219450"/>
            <a:ext cx="523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SKUs N</a:t>
            </a:r>
            <a:r>
              <a:rPr lang="en-US" sz="1350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OVOS AO LONGO DO CONTRATO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62000" y="6286500"/>
            <a:ext cx="1047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350"/>
              <a:buFont typeface="Manrope"/>
              <a:buNone/>
            </a:pPr>
            <a:r>
              <a:rPr b="0" i="0" lang="en-US" sz="13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Verificado por busca de marca em 23/09/2026. No ar como </a:t>
            </a:r>
            <a:r>
              <a:rPr lang="en-US" sz="1350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Tudo Pet</a:t>
            </a:r>
            <a:endParaRPr sz="1350">
              <a:solidFill>
                <a:srgbClr val="D2D8E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 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62000" y="1114425"/>
            <a:ext cx="106680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4275"/>
              <a:buFont typeface="Space Grotesk"/>
              <a:buNone/>
            </a:pPr>
            <a:r>
              <a:rPr b="1" i="0" lang="en-US" sz="427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Uma ficha que responde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4275"/>
              <a:buFont typeface="Space Grotesk"/>
              <a:buNone/>
            </a:pPr>
            <a:r>
              <a:rPr b="1" i="0" lang="en-US" sz="427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às perguntas da Amazon.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62000" y="290512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485900" y="2847975"/>
            <a:ext cx="5715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225"/>
              <a:buFont typeface="Space Grotesk"/>
              <a:buNone/>
            </a:pPr>
            <a:r>
              <a:rPr b="1" i="0" lang="en-US" sz="32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Arquitetura de marca.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572375" y="2886075"/>
            <a:ext cx="3857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Como Still Pet, Tudo Pet e Quick Pet convivem no canal.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62000" y="377190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485900" y="3714750"/>
            <a:ext cx="5715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225"/>
              <a:buFont typeface="Space Grotesk"/>
              <a:buNone/>
            </a:pPr>
            <a:r>
              <a:rPr b="1" i="0" lang="en-US" sz="32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Ficha no padrão.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572375" y="3752850"/>
            <a:ext cx="3857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Título, atributo, categoria e conteúdo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do jeito que a Amazon filtra.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62000" y="463867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485900" y="4581525"/>
            <a:ext cx="5715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225"/>
              <a:buFont typeface="Space Grotesk"/>
              <a:buNone/>
            </a:pPr>
            <a:r>
              <a:rPr b="1" i="0" lang="en-US" sz="32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Catálogo em ondas.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572375" y="4619625"/>
            <a:ext cx="3857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As 151 fichas no ar primeiro. Depois, dez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novos por mês. </a:t>
            </a:r>
            <a:r>
              <a:rPr lang="en-US" sz="1875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238250" y="6048375"/>
            <a:ext cx="10001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A impulsio organiza o catálogo dentro da conta da </a:t>
            </a:r>
            <a:r>
              <a:rPr lang="en-US" sz="1875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Still Pet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ESCOPO · AUDITORIA E 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62000" y="1000125"/>
            <a:ext cx="10668000" cy="39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100"/>
              <a:buFont typeface="Space Grotesk"/>
              <a:buNone/>
            </a:pPr>
            <a:r>
              <a:rPr b="1" i="0" lang="en-US" sz="31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Antes de corrigir, decidir o padrão.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62000" y="1657350"/>
            <a:ext cx="1028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O primeiro mês lê a conta inteira e define a régua que vale para todas as fichas.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62000" y="2381250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 151 FICHAS NO 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62000" y="2705100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Ler uma a uma: título, atributo, categoria,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conteúdo e erro de cadastro.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391275" y="2381250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ARQUITETURA DE MARCA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391275" y="2705100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Definir como as três marcas convivem 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canal e para qual as fichas migram.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62000" y="3857625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PADRÃO DE FICHA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62000" y="4181475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Título, atributo e categoria que valem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para todo o catálogo, não caso a caso.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391275" y="3857625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PLANO DE ONDAS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391275" y="4181475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Ordem de execução das 151 fichas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critério de prioridade para as seguintes.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ESCOPO · EXECUÇÃO DE CATÁLOGO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762000" y="1057275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750"/>
              <a:buFont typeface="Space Grotesk"/>
              <a:buNone/>
            </a:pPr>
            <a:r>
              <a:rPr b="1" i="0" lang="en-US" sz="37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Corrigir o que está no 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750"/>
              <a:buFont typeface="Space Grotesk"/>
              <a:buNone/>
            </a:pPr>
            <a:r>
              <a:rPr b="1" i="0" lang="en-US" sz="37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Publicar o que vem depois.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762000" y="2657475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ONDA 1 — CORREÇÃO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62000" y="3095625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600"/>
              <a:buFont typeface="Space Grotesk"/>
              <a:buNone/>
            </a:pPr>
            <a:r>
              <a:rPr b="1" i="0" lang="en-US" sz="36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As 151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600"/>
              <a:buFont typeface="Space Grotesk"/>
              <a:buNone/>
            </a:pPr>
            <a:r>
              <a:rPr b="1" i="0" lang="en-US" sz="36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fichas no 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762000" y="4391025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Correção de título e atributo.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Categoria e ficha técnica.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Imagens fornecidas pela </a:t>
            </a:r>
            <a:r>
              <a:rPr lang="en-US" sz="1875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Still Pet</a:t>
            </a: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Migração de marca.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572250" y="2657475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ONDA 2 — SKUS NOVOS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572250" y="309562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3600"/>
              <a:buFont typeface="Space Grotesk"/>
              <a:buNone/>
            </a:pPr>
            <a:r>
              <a:rPr b="1" i="0" lang="en-US" sz="360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3600"/>
              <a:buFont typeface="Space Grotesk"/>
              <a:buNone/>
            </a:pPr>
            <a:r>
              <a:rPr b="1" i="0" lang="en-US" sz="360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 mês.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572250" y="439102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Cadastro dos produtos novos.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Mesmo padrão da Onda 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Prioridade definida pela Still Pet.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 partir do mês 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 SEIS MESES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762000" y="1057275"/>
            <a:ext cx="106680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675"/>
              <a:buFont typeface="Space Grotesk"/>
              <a:buNone/>
            </a:pPr>
            <a:r>
              <a:rPr b="1" i="0" lang="en-US" sz="367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Três movimentos.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675"/>
              <a:buFont typeface="Space Grotesk"/>
              <a:buNone/>
            </a:pPr>
            <a:r>
              <a:rPr b="1" i="0" lang="en-US" sz="367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Uma entrega contínua.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762000" y="2571750"/>
            <a:ext cx="32956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5025"/>
              <a:buFont typeface="Space Grotesk"/>
              <a:buNone/>
            </a:pPr>
            <a:r>
              <a:rPr b="1" lang="en-US" sz="5025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Mês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762000" y="3810000"/>
            <a:ext cx="3295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025"/>
              <a:buFont typeface="Space Grotesk"/>
              <a:buNone/>
            </a:pPr>
            <a:r>
              <a:rPr b="1" i="0" lang="en-US" sz="20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762000" y="4295775"/>
            <a:ext cx="3333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Leitura das 151 fichas.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Decisão de marca.</a:t>
            </a:r>
            <a:r>
              <a:rPr lang="en-US" sz="1650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Padrão de ficha.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Plano de ondas.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448175" y="2571750"/>
            <a:ext cx="32956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5025"/>
              <a:buFont typeface="Space Grotesk"/>
              <a:buNone/>
            </a:pPr>
            <a:r>
              <a:rPr b="1" lang="en-US" sz="5025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Meses 1–3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4448175" y="3810000"/>
            <a:ext cx="3295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025"/>
              <a:buFont typeface="Space Grotesk"/>
              <a:buNone/>
            </a:pPr>
            <a:r>
              <a:rPr b="1" i="0" lang="en-US" sz="20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Onda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4448175" y="4295775"/>
            <a:ext cx="333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151 fichas corrigidas.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Categoria, atributo e título</a:t>
            </a:r>
            <a:r>
              <a:rPr lang="en-US" sz="1650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8134350" y="2571750"/>
            <a:ext cx="32956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5025"/>
              <a:buFont typeface="Space Grotesk"/>
              <a:buNone/>
            </a:pPr>
            <a:r>
              <a:rPr b="1" lang="en-US" sz="5025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Meses 3–6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8134350" y="3810000"/>
            <a:ext cx="3295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025"/>
              <a:buFont typeface="Space Grotesk"/>
              <a:buNone/>
            </a:pPr>
            <a:r>
              <a:rPr b="1" i="0" lang="en-US" sz="20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Onda 2 e fechamento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8134350" y="4295775"/>
            <a:ext cx="3333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Dez SKUs novos por mês.</a:t>
            </a:r>
            <a:endParaRPr b="0" i="0" sz="1650" u="none" cap="none" strike="noStrike">
              <a:solidFill>
                <a:srgbClr val="D2D8E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lang="en-US" sz="1650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Revisão contra a linha de partida.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Entrega de padrão e planilha.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762000" y="6353175"/>
            <a:ext cx="1066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350"/>
              <a:buFont typeface="Manrope"/>
              <a:buNone/>
            </a:pPr>
            <a:r>
              <a:rPr b="0" i="0" lang="en-US" sz="13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O prazo corre a partir do recebimento de cada insumo. Atraso de material desloca a entrega no mesmo número de dias.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0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 QUE NÃO ESTÁ INCLUÍDO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762000" y="1057275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750"/>
              <a:buFont typeface="Space Grotesk"/>
              <a:buNone/>
            </a:pPr>
            <a:r>
              <a:rPr b="1" i="0" lang="en-US" sz="37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 dizemos isso 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750"/>
              <a:buFont typeface="Space Grotesk"/>
              <a:buNone/>
            </a:pPr>
            <a:r>
              <a:rPr b="1" i="0" lang="en-US" sz="37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vocês perguntarem.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762000" y="2628900"/>
            <a:ext cx="561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COMERCIAL COM A AMAZON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762000" y="2990850"/>
            <a:ext cx="5619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5625"/>
              <a:buFont typeface="Space Grotesk"/>
              <a:buNone/>
            </a:pPr>
            <a:r>
              <a:rPr b="1" i="0" lang="en-US" sz="56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Negociação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762000" y="3819525"/>
            <a:ext cx="561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2025"/>
              <a:buFont typeface="Manrope"/>
              <a:buNone/>
            </a:pPr>
            <a:r>
              <a:rPr lang="en-US" sz="2025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de preço, prazo, pedido ou entrada de produto.</a:t>
            </a:r>
            <a:r>
              <a:rPr b="0" i="0" lang="en-US" sz="202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762000" y="4448175"/>
            <a:ext cx="5619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5625"/>
              <a:buFont typeface="Space Grotesk"/>
              <a:buNone/>
            </a:pPr>
            <a:r>
              <a:rPr b="1" i="0" lang="en-US" sz="5625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Gestão de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762000" y="5238750"/>
            <a:ext cx="561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Venda, sell-out, rentabilidade e meta de faturamento.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762000" y="5667375"/>
            <a:ext cx="5619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500"/>
              <a:buFont typeface="Manrope"/>
              <a:buNone/>
            </a:pPr>
            <a:r>
              <a:rPr b="0" i="0" lang="en-US" sz="15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Essa relação continua sendo de vocês, direto com a Amazon.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7191375" y="2667000"/>
            <a:ext cx="4238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325"/>
              <a:buFont typeface="Space Grotesk"/>
              <a:buNone/>
            </a:pPr>
            <a:r>
              <a:rPr b="1" i="0" lang="en-US" sz="23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Mídia paga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7191375" y="3076575"/>
            <a:ext cx="423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Retail media não entra. Tráfego para ficha incompleta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vira desconto, não venda.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7191375" y="3933825"/>
            <a:ext cx="4238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325"/>
              <a:buFont typeface="Space Grotesk"/>
              <a:buNone/>
            </a:pPr>
            <a:r>
              <a:rPr b="1" i="0" lang="en-US" sz="23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Foto, vídeo e criativo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7191375" y="4343400"/>
            <a:ext cx="423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Produção de imagem não está no escopo. Usamos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material que vocês fornecerem.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7191375" y="5200650"/>
            <a:ext cx="4238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325"/>
              <a:buFont typeface="Space Grotesk"/>
              <a:buNone/>
            </a:pPr>
            <a:r>
              <a:rPr b="1" i="0" lang="en-US" sz="23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Atendimento e jurídico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7191375" y="5610225"/>
            <a:ext cx="423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SAC, devolução, disputa com plataforma e assunto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jurídico de marca seguem com vocês.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1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COMO O TRABALHO É MEDIDO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762000" y="1057275"/>
            <a:ext cx="106680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825"/>
              <a:buFont typeface="Space Grotesk"/>
              <a:buNone/>
            </a:pPr>
            <a:r>
              <a:rPr b="1" i="0" lang="en-US" sz="38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Três lentes sobre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825"/>
              <a:buFont typeface="Space Grotesk"/>
              <a:buNone/>
            </a:pPr>
            <a:r>
              <a:rPr b="1" i="0" lang="en-US" sz="38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a operação controla.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762000" y="2590800"/>
            <a:ext cx="32956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6600"/>
              <a:buFont typeface="Space Grotesk"/>
              <a:buNone/>
            </a:pPr>
            <a:r>
              <a:rPr b="1" i="0" lang="en-US" sz="660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762000" y="365760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625"/>
              <a:buFont typeface="Space Grotesk"/>
              <a:buNone/>
            </a:pPr>
            <a:r>
              <a:rPr b="1" i="0" lang="en-US" sz="26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Corrigir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762000" y="4286250"/>
            <a:ext cx="3295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Fichas no padrão: 0 → 191.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Erros críticos: 2 → 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Erros de categoria: 5 → 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448175" y="2590800"/>
            <a:ext cx="32956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6600"/>
              <a:buFont typeface="Space Grotesk"/>
              <a:buNone/>
            </a:pPr>
            <a:r>
              <a:rPr b="1" i="0" lang="en-US" sz="660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4448175" y="365760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625"/>
              <a:buFont typeface="Space Grotesk"/>
              <a:buNone/>
            </a:pPr>
            <a:r>
              <a:rPr b="1" i="0" lang="en-US" sz="26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Publicar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4448175" y="4286250"/>
            <a:ext cx="3295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SKUs novos no 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Dez por mês, meses 3 a 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Mesmo padrão da Onda 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8134350" y="2590800"/>
            <a:ext cx="32956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6600"/>
              <a:buFont typeface="Space Grotesk"/>
              <a:buNone/>
            </a:pPr>
            <a:r>
              <a:rPr b="1" i="0" lang="en-US" sz="660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8134350" y="365760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625"/>
              <a:buFont typeface="Space Grotesk"/>
              <a:buNone/>
            </a:pPr>
            <a:r>
              <a:rPr b="1" i="0" lang="en-US" sz="26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8134350" y="4286250"/>
            <a:ext cx="3295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Regressão de ficha.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Atributo que some após edição.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Relatório mensal de execução.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762000" y="5876925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175"/>
              <a:buFont typeface="Manrope"/>
              <a:buNone/>
            </a:pPr>
            <a:r>
              <a:rPr b="0" i="0" lang="en-US" sz="2175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Não há meta de faturamento: o pedido é decisão da Amazon, e o preço e o estoque são de vocês.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762000" y="6362700"/>
            <a:ext cx="1066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350"/>
              <a:buFont typeface="Manrope"/>
              <a:buNone/>
            </a:pPr>
            <a:r>
              <a:rPr b="0" i="0" lang="en-US" sz="13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Linha de partida medida em 23 de setembro de 2026.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3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 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762000" y="1000125"/>
            <a:ext cx="10668000" cy="39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100"/>
              <a:buFont typeface="Space Grotesk"/>
              <a:buNone/>
            </a:pPr>
            <a:r>
              <a:rPr b="1" i="0" lang="en-US" sz="31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Dentro do orçamento que vocês definiram.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1076325" y="207645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SETUP E 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076325" y="2333625"/>
            <a:ext cx="4543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450"/>
              <a:buFont typeface="Space Grotesk"/>
              <a:buNone/>
            </a:pPr>
            <a:r>
              <a:rPr b="1" i="0" lang="en-US" sz="34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R$ </a:t>
            </a:r>
            <a:r>
              <a:rPr b="1" lang="en-US" sz="345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r>
              <a:rPr b="1" i="0" lang="en-US" sz="34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.500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1076325" y="2857500"/>
            <a:ext cx="45434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725"/>
              <a:buFont typeface="Manrope"/>
              <a:buNone/>
            </a:pPr>
            <a:r>
              <a:rPr b="0" i="0" lang="en-US" sz="1725" u="none" cap="none" strike="noStrike">
                <a:solidFill>
                  <a:srgbClr val="B5CBF5"/>
                </a:solidFill>
                <a:latin typeface="Manrope"/>
                <a:ea typeface="Manrope"/>
                <a:cs typeface="Manrope"/>
                <a:sym typeface="Manrope"/>
              </a:rPr>
              <a:t>Pagamento único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1076325" y="3190875"/>
            <a:ext cx="45434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Auditoria das 151 fichas, arquitetura de marca, padrão e plano de ondas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6543675" y="2076450"/>
            <a:ext cx="4562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EXECUÇÃO DE CATÁLOGO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6543675" y="2333625"/>
            <a:ext cx="45624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450"/>
              <a:buFont typeface="Space Grotesk"/>
              <a:buNone/>
            </a:pPr>
            <a:r>
              <a:rPr b="1" i="0" lang="en-US" sz="34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R$ 2.</a:t>
            </a:r>
            <a:r>
              <a:rPr b="1" lang="en-US" sz="345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r>
              <a:rPr b="1" i="0" lang="en-US" sz="34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00/mês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6543675" y="2857500"/>
            <a:ext cx="4562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725"/>
              <a:buFont typeface="Manrope"/>
              <a:buNone/>
            </a:pPr>
            <a:r>
              <a:rPr b="0" i="0" lang="en-US" sz="1725" u="none" cap="none" strike="noStrike">
                <a:solidFill>
                  <a:srgbClr val="B5CBF5"/>
                </a:solidFill>
                <a:latin typeface="Manrope"/>
                <a:ea typeface="Manrope"/>
                <a:cs typeface="Manrope"/>
                <a:sym typeface="Manrope"/>
              </a:rPr>
              <a:t>Seis meses de execução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6543675" y="3190875"/>
            <a:ext cx="4562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Correção das fichas, cadastro dos SKUs novos, monitoramento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e relatório mensal.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762000" y="474345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Contrato de seis meses. Total de R$ 17.500, sem remuneração variável.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762000" y="5219700"/>
            <a:ext cx="1066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Mídia e investimentos realizados diretamente nos canais não estão incluídos.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1238250" y="6076950"/>
            <a:ext cx="10001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191 fichas no padrão ao fim do contrato.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TITULARIDADE E SAÍDA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762000" y="1066800"/>
            <a:ext cx="106680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825"/>
              <a:buFont typeface="Space Grotesk"/>
              <a:buNone/>
            </a:pPr>
            <a:r>
              <a:rPr b="1" i="0" lang="en-US" sz="38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Tudo que for construído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825"/>
              <a:buFont typeface="Space Grotesk"/>
              <a:buNone/>
            </a:pPr>
            <a:r>
              <a:rPr b="1" i="0" lang="en-US" sz="38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é de vocês.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762000" y="2867025"/>
            <a:ext cx="1952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DURANTE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3143250" y="2686050"/>
            <a:ext cx="828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4950"/>
              <a:buFont typeface="Space Grotesk"/>
              <a:buNone/>
            </a:pPr>
            <a:r>
              <a:rPr b="1" i="0" lang="en-US" sz="49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 conta é da Still Pet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3181350" y="3476625"/>
            <a:ext cx="8248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 impulsio opera dentro da conta de vocês. Nada fica hospedado conosco.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762000" y="4714875"/>
            <a:ext cx="2190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 SAÍDA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3143250" y="4505325"/>
            <a:ext cx="8286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3750"/>
              <a:buFont typeface="Space Grotesk"/>
              <a:buNone/>
            </a:pPr>
            <a:r>
              <a:rPr b="1" i="0" lang="en-US" sz="375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Entrega em 15 dias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3181350" y="5219700"/>
            <a:ext cx="8248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Acessos, fichas, conteúdo, padrão e planilha de controle ficam com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Still Pet, sem retenção de nada.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5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 PRÓXIMO PASSO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762000" y="1000125"/>
            <a:ext cx="10668000" cy="39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100"/>
              <a:buFont typeface="Space Grotesk"/>
              <a:buNone/>
            </a:pPr>
            <a:r>
              <a:rPr b="1" i="0" lang="en-US" sz="31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Começar pela régua, não pela ficha.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762000" y="1522050"/>
            <a:ext cx="10287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Quatro movimentos entre o aceite e a primeira ficha corrigida.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762000" y="2190750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1514475" y="2190750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Aceite e 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do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762000" y="2933700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1514475" y="2933700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Acesso ao Vendor Central e planilha do ERP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6448425" y="2190750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7200900" y="2190750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Kickoff de alinhamento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até 48 horas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6448425" y="2933700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7200900" y="2933700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Decisão sobre a 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de marca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762000" y="4171950"/>
            <a:ext cx="3238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CORRIGIR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762000" y="4457700"/>
            <a:ext cx="3190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As 151 fichas no 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4476750" y="4171950"/>
            <a:ext cx="3190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4476750" y="4457700"/>
            <a:ext cx="3190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Dez SKUs novos por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mês.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8162925" y="4171950"/>
            <a:ext cx="32670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8162925" y="4457700"/>
            <a:ext cx="3267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O padrão, ficha a ficha.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1238250" y="5229225"/>
            <a:ext cx="10001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impulsio · operação de canais digitais para indústrias e distribuidores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